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9" r:id="rId14"/>
    <p:sldId id="268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3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C6962-E9F1-9771-4B30-0F3D7994E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E5229-5179-A489-183D-A1280AC06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34438-6E90-55D4-9AED-3930E2575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EC3-45FA-44B9-8A2F-12EC294ED1D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B56F8-944E-7345-EF8E-3779E5CCF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56656-B0E0-E6D1-416D-E845D6771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C416-4928-41C3-9D9D-372FF6C60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84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56ABC-0A91-8AC5-3DD3-2422C4990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59272-54DD-EB9A-7DF8-CD5AF839E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7A26B-4BA8-AB7C-0D50-D34C020A3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EC3-45FA-44B9-8A2F-12EC294ED1D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84288-07C5-7132-C588-71FC580F6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90602-F418-A87C-4ABD-1B02012B0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C416-4928-41C3-9D9D-372FF6C60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37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6A85B-AF5D-97D7-469B-F9D6688C6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3B9B6-B04F-E759-CDC3-B3B04BA12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77802-1C1F-D50F-606D-41B7BC6F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EC3-45FA-44B9-8A2F-12EC294ED1D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BE287-F111-B274-92AE-CFF1E4A3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B660A-B5DD-8F76-7E82-2A856AE60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C416-4928-41C3-9D9D-372FF6C60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08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1E3B-0ADE-79CB-8982-C419226DE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A397F-12B3-1B4A-5B6C-1DE420DB3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D0897-6B00-B6A1-DCC6-16ECE6969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1BBBE-1D7A-77AC-E735-CB98CE758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EC3-45FA-44B9-8A2F-12EC294ED1D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09C3C-ABE5-C9A1-E0DE-1041D1078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5D04F-3625-776B-F8B5-C09589F07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C416-4928-41C3-9D9D-372FF6C60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125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DC7C-4ADD-8BE3-7B57-2D8B48A77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7FE21-EE19-ABD8-19D1-8B720F910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3ED15-52F5-88EE-7672-CF96C9B7F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4BCC8-EE5C-895E-C228-25B7B8844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75235B-7BB7-A817-B2B6-628D5889E9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9DC278-23D4-0197-207C-697038874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EC3-45FA-44B9-8A2F-12EC294ED1D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CB014E-4E89-E6E6-73C2-5B4931FB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23A0A2-8942-8B83-8ACB-67CD8BBB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C416-4928-41C3-9D9D-372FF6C60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20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878B-B73E-0633-DFA7-1CED4D73A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0F55AD-58F3-68B2-BD3D-AB40547AD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EC3-45FA-44B9-8A2F-12EC294ED1D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AAA46-5B5A-166A-1294-580FC9A7F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84B00C-DB34-432B-2938-F3EB5E2C9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C416-4928-41C3-9D9D-372FF6C60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68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4BB6A7-BF82-499D-B506-BBB0EC03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EC3-45FA-44B9-8A2F-12EC294ED1D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5729D3-07BA-A98E-D710-816B232F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7E5C8-1315-922B-EB1B-E74C20D3D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C416-4928-41C3-9D9D-372FF6C60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8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4F297-8838-74BF-9020-6B0AE4BC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A392E-CBF0-7AF6-1972-76BA4F59E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3AD13-5E3D-7618-42CF-6F78FE443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7DC55-4601-717D-C2B6-5EEFDB67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EC3-45FA-44B9-8A2F-12EC294ED1D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460F0-FC28-F9CD-6F33-9E4EAB8B3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974F2-B14A-D497-D677-B2AFDB47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C416-4928-41C3-9D9D-372FF6C60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20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55DFB-8847-04AD-3B8C-9FBB19FF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631158-2DE0-848D-43D6-F1C5D073C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9C687-7EEE-774B-58D8-F26C4DDBD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07340-5801-650D-2F34-B96996B8F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EC3-45FA-44B9-8A2F-12EC294ED1D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E80FE-E9E6-8EA6-7E74-6216EF551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1BBA5-78FF-36CE-EB4B-42958011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C416-4928-41C3-9D9D-372FF6C60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38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27EFF-2EBC-630A-F315-BE3832AC6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C68D9-4D67-C466-E11A-9D32CD443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A4CC3-2F3F-B364-AFD3-950695A7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EC3-45FA-44B9-8A2F-12EC294ED1D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07911-757B-E92B-5A9E-A0FAF7B64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15946-0B44-003F-41F3-F0492A2E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C416-4928-41C3-9D9D-372FF6C60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70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FD69E6-3966-AEF1-24F4-FBF46B0EA5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3A34C-581F-8056-7AC1-9349A7022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F7EE5-8779-B902-A749-8435599B0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9EC3-45FA-44B9-8A2F-12EC294ED1D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9BB14-27FF-3881-CFE2-C1E96EC2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E7B37-52BC-A68D-6A5A-BAE50CA95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1C416-4928-41C3-9D9D-372FF6C60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14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D46F8-E4AC-D64A-2C40-F413D0DD1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B7DE5-AC51-2F1A-771A-9DE397DCE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E8B63-7086-8B4F-AC24-CCBA3B1EC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279EC3-45FA-44B9-8A2F-12EC294ED1D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C9674-A1A5-1080-40B5-D0F9132BF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D8DA0-AFE1-D1C2-5234-19708DA358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1C416-4928-41C3-9D9D-372FF6C60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45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8EB6-8412-F15D-69F6-D20C8122B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Endangered Species Analysis in National Parks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863973-9A43-7768-346A-57C8AF778D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Biodiversity Insights from NPS Data</a:t>
            </a:r>
          </a:p>
          <a:p>
            <a:r>
              <a:rPr lang="en-US" b="1" dirty="0"/>
              <a:t>Spencer Wilkins</a:t>
            </a:r>
          </a:p>
          <a:p>
            <a:r>
              <a:rPr lang="en-US" dirty="0">
                <a:effectLst/>
              </a:rPr>
              <a:t>Feb 16, 2026</a:t>
            </a:r>
          </a:p>
        </p:txBody>
      </p:sp>
    </p:spTree>
    <p:extLst>
      <p:ext uri="{BB962C8B-B14F-4D97-AF65-F5344CB8AC3E}">
        <p14:creationId xmlns:p14="http://schemas.microsoft.com/office/powerpoint/2010/main" val="287603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7925F-2A2E-F551-6A2D-7ADFF82B7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Project Overview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D7299-D5D7-2BE4-1C14-E5EAF3F9A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effectLst/>
              </a:rPr>
              <a:t>Role</a:t>
            </a:r>
            <a:r>
              <a:rPr lang="en-US" dirty="0">
                <a:effectLst/>
              </a:rPr>
              <a:t>: Biodiversity Analyst for National Park Service</a:t>
            </a:r>
          </a:p>
          <a:p>
            <a:r>
              <a:rPr lang="en-US" b="1" dirty="0"/>
              <a:t>Objective</a:t>
            </a:r>
            <a:r>
              <a:rPr lang="en-US" dirty="0"/>
              <a:t>: </a:t>
            </a:r>
            <a:r>
              <a:rPr lang="en-US" dirty="0">
                <a:effectLst/>
              </a:rPr>
              <a:t>Objective: Analyze at-risk species and observation patterns to support NPS biodiversity monitoring</a:t>
            </a:r>
          </a:p>
          <a:p>
            <a:r>
              <a:rPr lang="en-US" b="1" dirty="0"/>
              <a:t>Key Questions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effectLst/>
              </a:rPr>
              <a:t>Distribution of conservation status across species</a:t>
            </a:r>
          </a:p>
          <a:p>
            <a:pPr lvl="1"/>
            <a:r>
              <a:rPr lang="en-US" dirty="0">
                <a:effectLst/>
              </a:rPr>
              <a:t>Are certain species/categories more likely to be protected/endangered?</a:t>
            </a:r>
          </a:p>
          <a:p>
            <a:pPr lvl="1"/>
            <a:r>
              <a:rPr lang="en-US" dirty="0">
                <a:effectLst/>
              </a:rPr>
              <a:t>Are category differences in protection statistically significant?</a:t>
            </a:r>
          </a:p>
          <a:p>
            <a:pPr lvl="1"/>
            <a:r>
              <a:rPr lang="en-US" dirty="0">
                <a:effectLst/>
              </a:rPr>
              <a:t>Which species are most commonly observed and how do sightings vary by park?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Approach</a:t>
            </a:r>
            <a:r>
              <a:rPr lang="en-US" dirty="0">
                <a:effectLst/>
              </a:rPr>
              <a:t>: Data cleaning, descriptive stats, visualizations, chi-square inference</a:t>
            </a:r>
          </a:p>
          <a:p>
            <a:pPr marL="0" indent="0">
              <a:buNone/>
            </a:pPr>
            <a:r>
              <a:rPr lang="en-US" b="1" dirty="0"/>
              <a:t>Datasets</a:t>
            </a:r>
            <a:r>
              <a:rPr lang="en-US" dirty="0"/>
              <a:t>: </a:t>
            </a:r>
            <a:r>
              <a:rPr lang="en-US" dirty="0">
                <a:effectLst/>
              </a:rPr>
              <a:t>species_info.csv (species details) + observations.csv (park sightings)</a:t>
            </a:r>
          </a:p>
          <a:p>
            <a:pPr marL="0" indent="0">
              <a:buNone/>
            </a:pPr>
            <a:endParaRPr lang="en-US" dirty="0">
              <a:effectLst/>
            </a:endParaRPr>
          </a:p>
          <a:p>
            <a:pPr marL="0" indent="0">
              <a:buNone/>
            </a:pPr>
            <a:endParaRPr lang="en-US" dirty="0">
              <a:effectLst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458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0CD1-4FA5-B09B-D2FD-007FACA21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C44D9-A33A-9BC7-B904-CD0A49389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effectLst/>
              </a:rPr>
              <a:t>Two primary datasets: </a:t>
            </a:r>
            <a:r>
              <a:rPr lang="en-US" dirty="0">
                <a:effectLst/>
              </a:rPr>
              <a:t>from </a:t>
            </a:r>
            <a:r>
              <a:rPr lang="en-US" dirty="0" err="1">
                <a:effectLst/>
              </a:rPr>
              <a:t>Codecademy</a:t>
            </a:r>
            <a:r>
              <a:rPr lang="en-US" dirty="0">
                <a:effectLst/>
              </a:rPr>
              <a:t> (inspired by real NPS data, mostly fictional)</a:t>
            </a:r>
          </a:p>
          <a:p>
            <a:r>
              <a:rPr lang="en-US" b="1" dirty="0"/>
              <a:t>species_info.csv </a:t>
            </a:r>
            <a:r>
              <a:rPr lang="en-US" dirty="0"/>
              <a:t>— Species-level details (5,824 rows) </a:t>
            </a:r>
          </a:p>
          <a:p>
            <a:pPr lvl="1"/>
            <a:r>
              <a:rPr lang="en-US" b="1" i="1" dirty="0"/>
              <a:t>Key columns</a:t>
            </a:r>
            <a:r>
              <a:rPr lang="en-US" dirty="0"/>
              <a:t>: category, </a:t>
            </a:r>
            <a:r>
              <a:rPr lang="en-US" dirty="0" err="1"/>
              <a:t>scientific_name</a:t>
            </a:r>
            <a:r>
              <a:rPr lang="en-US" dirty="0"/>
              <a:t>, </a:t>
            </a:r>
            <a:r>
              <a:rPr lang="en-US" dirty="0" err="1"/>
              <a:t>common_names</a:t>
            </a:r>
            <a:r>
              <a:rPr lang="en-US" dirty="0"/>
              <a:t>, </a:t>
            </a:r>
            <a:r>
              <a:rPr lang="en-US" dirty="0" err="1"/>
              <a:t>conservation_status</a:t>
            </a:r>
            <a:endParaRPr lang="en-US" dirty="0"/>
          </a:p>
          <a:p>
            <a:r>
              <a:rPr lang="en-US" b="1" dirty="0"/>
              <a:t>observations.csv </a:t>
            </a:r>
            <a:r>
              <a:rPr lang="en-US" dirty="0"/>
              <a:t>— 7-day sighting counts per species per park (23,296 rows) </a:t>
            </a:r>
          </a:p>
          <a:p>
            <a:pPr lvl="1"/>
            <a:r>
              <a:rPr lang="en-US" b="1" i="1" dirty="0"/>
              <a:t>Key columns</a:t>
            </a:r>
            <a:r>
              <a:rPr lang="en-US" dirty="0"/>
              <a:t>: </a:t>
            </a:r>
            <a:r>
              <a:rPr lang="en-US" dirty="0" err="1"/>
              <a:t>scientific_name</a:t>
            </a:r>
            <a:r>
              <a:rPr lang="en-US" dirty="0"/>
              <a:t>, </a:t>
            </a:r>
            <a:r>
              <a:rPr lang="en-US" dirty="0" err="1"/>
              <a:t>park_name</a:t>
            </a:r>
            <a:r>
              <a:rPr lang="en-US" dirty="0"/>
              <a:t>, observations</a:t>
            </a:r>
          </a:p>
          <a:p>
            <a:r>
              <a:rPr lang="en-US" dirty="0">
                <a:effectLst/>
              </a:rPr>
              <a:t>Merged into one working table (</a:t>
            </a:r>
            <a:r>
              <a:rPr lang="en-US" dirty="0" err="1">
                <a:effectLst/>
              </a:rPr>
              <a:t>df</a:t>
            </a:r>
            <a:r>
              <a:rPr lang="en-US" dirty="0">
                <a:effectLst/>
              </a:rPr>
              <a:t>) on </a:t>
            </a:r>
            <a:r>
              <a:rPr lang="en-US" dirty="0" err="1">
                <a:effectLst/>
              </a:rPr>
              <a:t>scientific_name</a:t>
            </a:r>
            <a:r>
              <a:rPr lang="en-US" dirty="0">
                <a:effectLst/>
              </a:rPr>
              <a:t> for combined analysis</a:t>
            </a:r>
          </a:p>
          <a:p>
            <a:r>
              <a:rPr lang="en-US" b="1" dirty="0">
                <a:effectLst/>
              </a:rPr>
              <a:t>Total unique species</a:t>
            </a:r>
            <a:r>
              <a:rPr lang="en-US" dirty="0">
                <a:effectLst/>
              </a:rPr>
              <a:t>: ~5,541</a:t>
            </a:r>
          </a:p>
          <a:p>
            <a:r>
              <a:rPr lang="en-US" b="1" dirty="0">
                <a:effectLst/>
              </a:rPr>
              <a:t>Parks</a:t>
            </a:r>
            <a:r>
              <a:rPr lang="en-US" dirty="0">
                <a:effectLst/>
              </a:rPr>
              <a:t>: 4 (Great Smoky Mountains, Yosemite, Bryce, Yellowstone)</a:t>
            </a:r>
          </a:p>
          <a:p>
            <a:r>
              <a:rPr lang="en-US" b="1" dirty="0">
                <a:effectLst/>
              </a:rPr>
              <a:t>Observation range</a:t>
            </a:r>
            <a:r>
              <a:rPr lang="en-US" dirty="0">
                <a:effectLst/>
              </a:rPr>
              <a:t>: 9 to 321 per record (mean ~142)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465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6691B-6615-88F3-D8FE-537446DE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Reference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45E340-658D-5AB7-3743-E161A470DC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4704698"/>
              </p:ext>
            </p:extLst>
          </p:nvPr>
        </p:nvGraphicFramePr>
        <p:xfrm>
          <a:off x="740535" y="1847849"/>
          <a:ext cx="10515599" cy="38317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8882">
                  <a:extLst>
                    <a:ext uri="{9D8B030D-6E8A-4147-A177-3AD203B41FA5}">
                      <a16:colId xmlns:a16="http://schemas.microsoft.com/office/drawing/2014/main" val="3698430105"/>
                    </a:ext>
                  </a:extLst>
                </a:gridCol>
                <a:gridCol w="823377">
                  <a:extLst>
                    <a:ext uri="{9D8B030D-6E8A-4147-A177-3AD203B41FA5}">
                      <a16:colId xmlns:a16="http://schemas.microsoft.com/office/drawing/2014/main" val="115851068"/>
                    </a:ext>
                  </a:extLst>
                </a:gridCol>
                <a:gridCol w="4011783">
                  <a:extLst>
                    <a:ext uri="{9D8B030D-6E8A-4147-A177-3AD203B41FA5}">
                      <a16:colId xmlns:a16="http://schemas.microsoft.com/office/drawing/2014/main" val="1997593909"/>
                    </a:ext>
                  </a:extLst>
                </a:gridCol>
                <a:gridCol w="3801557">
                  <a:extLst>
                    <a:ext uri="{9D8B030D-6E8A-4147-A177-3AD203B41FA5}">
                      <a16:colId xmlns:a16="http://schemas.microsoft.com/office/drawing/2014/main" val="1169890057"/>
                    </a:ext>
                  </a:extLst>
                </a:gridCol>
              </a:tblGrid>
              <a:tr h="9579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Dataset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Rows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Key Columns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Purpose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3085704"/>
                  </a:ext>
                </a:extLst>
              </a:tr>
              <a:tr h="9579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species_info.csv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5,824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category, scientific_name, conservation_status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Species characteristics &amp; status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96013403"/>
                  </a:ext>
                </a:extLst>
              </a:tr>
              <a:tr h="9579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observations.csv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23,296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park_name, observations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Sighting counts by park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833229"/>
                  </a:ext>
                </a:extLst>
              </a:tr>
              <a:tr h="9579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Merged (df)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23,296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All above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Combined park + species analysis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90601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19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5472-E9B7-1B81-127B-4037894C7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Conservation Status Overview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EF0D8-7D41-FE78-E970-E3531BA14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“</a:t>
            </a:r>
            <a:r>
              <a:rPr lang="en-US" b="1" dirty="0"/>
              <a:t>P</a:t>
            </a:r>
            <a:r>
              <a:rPr lang="en-US" b="1" dirty="0">
                <a:effectLst/>
              </a:rPr>
              <a:t>rotected species</a:t>
            </a:r>
            <a:r>
              <a:rPr lang="en-US" dirty="0">
                <a:effectLst/>
              </a:rPr>
              <a:t>” (Species not listed as NaN):</a:t>
            </a:r>
          </a:p>
          <a:p>
            <a:pPr lvl="1"/>
            <a:r>
              <a:rPr lang="en-US" dirty="0">
                <a:effectLst/>
              </a:rPr>
              <a:t>Species of Concern: dominant category (161 species)</a:t>
            </a:r>
          </a:p>
          <a:p>
            <a:pPr lvl="1"/>
            <a:r>
              <a:rPr lang="en-US" dirty="0">
                <a:effectLst/>
              </a:rPr>
              <a:t>Endangered: 16 species</a:t>
            </a:r>
          </a:p>
          <a:p>
            <a:pPr lvl="1"/>
            <a:r>
              <a:rPr lang="en-US" dirty="0">
                <a:effectLst/>
              </a:rPr>
              <a:t>Threatened: 10 species</a:t>
            </a:r>
          </a:p>
          <a:p>
            <a:pPr lvl="1"/>
            <a:r>
              <a:rPr lang="en-US" dirty="0">
                <a:effectLst/>
              </a:rPr>
              <a:t>In Recovery: 4 species</a:t>
            </a:r>
          </a:p>
          <a:p>
            <a:pPr marL="0" indent="0">
              <a:buNone/>
            </a:pPr>
            <a:endParaRPr lang="en-US" dirty="0">
              <a:effectLst/>
            </a:endParaRPr>
          </a:p>
          <a:p>
            <a:pPr marL="0" indent="0">
              <a:buNone/>
            </a:pPr>
            <a:r>
              <a:rPr lang="en-US" dirty="0">
                <a:effectLst/>
              </a:rPr>
              <a:t>Most species (~97%) have no listed conservation status (NaN / Not Listed)</a:t>
            </a:r>
            <a:endParaRPr lang="en-US" dirty="0"/>
          </a:p>
          <a:p>
            <a:pPr marL="0" indent="0">
              <a:buNone/>
            </a:pPr>
            <a:endParaRPr lang="en-US" sz="2400" b="1" i="1" dirty="0"/>
          </a:p>
          <a:p>
            <a:pPr marL="0" indent="0">
              <a:buNone/>
            </a:pPr>
            <a:r>
              <a:rPr lang="en-US" sz="2400" b="1" i="1" dirty="0"/>
              <a:t>Chart to follow</a:t>
            </a:r>
            <a:r>
              <a:rPr lang="en-US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17994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A2A7773-2585-8D92-778C-F97BD4A208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0493"/>
            <a:ext cx="12008164" cy="669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855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981E1-441B-09CA-24F7-66590E697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Protected Species by Category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1D1AE-9079-5976-6339-73D4BB370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effectLst/>
              </a:rPr>
              <a:t>Mammals and birds </a:t>
            </a:r>
            <a:r>
              <a:rPr lang="en-US" sz="1800" dirty="0">
                <a:effectLst/>
              </a:rPr>
              <a:t>have the highest rates of protected status</a:t>
            </a:r>
          </a:p>
          <a:p>
            <a:r>
              <a:rPr lang="en-US" sz="1800" b="1" dirty="0">
                <a:effectLst/>
              </a:rPr>
              <a:t>Mammals</a:t>
            </a:r>
            <a:r>
              <a:rPr lang="en-US" sz="1800" dirty="0">
                <a:effectLst/>
              </a:rPr>
              <a:t>: ~18% protected (38 / 214 total)</a:t>
            </a:r>
          </a:p>
          <a:p>
            <a:r>
              <a:rPr lang="en-US" sz="1800" b="1" dirty="0">
                <a:effectLst/>
              </a:rPr>
              <a:t>Birds</a:t>
            </a:r>
            <a:r>
              <a:rPr lang="en-US" sz="1800" dirty="0">
                <a:effectLst/>
              </a:rPr>
              <a:t>: 15.3% protected. (79 / 521)</a:t>
            </a:r>
          </a:p>
          <a:p>
            <a:endParaRPr lang="en-US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1855BB-CBBE-E716-6DB1-B9508B504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76" y="2985797"/>
            <a:ext cx="9987086" cy="387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87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321F-569D-B4C6-B585-1E12380C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Observations, Volumes &amp; Trends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ACA36-442A-C33C-9E8E-558243D1E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b="1" dirty="0">
                <a:effectLst/>
              </a:rPr>
              <a:t>Observation counts are varied</a:t>
            </a:r>
            <a:r>
              <a:rPr lang="en-US" sz="2000" dirty="0">
                <a:effectLst/>
              </a:rPr>
              <a:t>: Most species have low total sightings.</a:t>
            </a:r>
          </a:p>
          <a:p>
            <a:r>
              <a:rPr lang="en-US" sz="2000" b="1" dirty="0">
                <a:effectLst/>
              </a:rPr>
              <a:t>Protected species </a:t>
            </a:r>
            <a:r>
              <a:rPr lang="en-US" sz="2000" dirty="0">
                <a:effectLst/>
              </a:rPr>
              <a:t>tend to have lower average observations than non-protected ones</a:t>
            </a:r>
          </a:p>
          <a:p>
            <a:r>
              <a:rPr lang="en-US" sz="2000" b="1" dirty="0">
                <a:effectLst/>
              </a:rPr>
              <a:t>Certain categories dominate sightings </a:t>
            </a:r>
            <a:r>
              <a:rPr lang="en-US" sz="1800" dirty="0">
                <a:effectLst/>
              </a:rPr>
              <a:t>(</a:t>
            </a:r>
            <a:r>
              <a:rPr lang="en-US" sz="1400" b="1" i="1" dirty="0">
                <a:effectLst/>
              </a:rPr>
              <a:t>Ex</a:t>
            </a:r>
            <a:r>
              <a:rPr lang="en-US" sz="1400" i="1" dirty="0">
                <a:effectLst/>
              </a:rPr>
              <a:t>: vascular plants and birds in high numbers</a:t>
            </a:r>
            <a:r>
              <a:rPr lang="en-US" sz="1800" dirty="0">
                <a:effectLst/>
              </a:rPr>
              <a:t>)</a:t>
            </a:r>
          </a:p>
          <a:p>
            <a:r>
              <a:rPr lang="en-US" sz="2000" b="1" dirty="0">
                <a:effectLst/>
              </a:rPr>
              <a:t>Park differences exist </a:t>
            </a:r>
            <a:r>
              <a:rPr lang="en-US" sz="2000" dirty="0">
                <a:effectLst/>
              </a:rPr>
              <a:t>(e.g., Yellowstone often reports higher averages across categories)</a:t>
            </a:r>
          </a:p>
          <a:p>
            <a:r>
              <a:rPr lang="en-US" sz="2000" b="1" dirty="0">
                <a:effectLst/>
              </a:rPr>
              <a:t>Most species are rarely observed</a:t>
            </a:r>
            <a:r>
              <a:rPr lang="en-US" sz="2000" dirty="0">
                <a:effectLst/>
              </a:rPr>
              <a:t>, creating varied distributions across categories. </a:t>
            </a:r>
          </a:p>
          <a:p>
            <a:pPr lvl="1"/>
            <a:r>
              <a:rPr lang="en-US" sz="1600" dirty="0">
                <a:effectLst/>
              </a:rPr>
              <a:t>Protected species appear less common in sightings — this could reflect real rarity, monitoring gaps, data collection bias, or behavioral differences. </a:t>
            </a:r>
          </a:p>
          <a:p>
            <a:pPr lvl="1"/>
            <a:r>
              <a:rPr lang="en-US" sz="1600" b="1" dirty="0"/>
              <a:t>Ex</a:t>
            </a:r>
            <a:r>
              <a:rPr lang="en-US" sz="1600" dirty="0"/>
              <a:t>:</a:t>
            </a:r>
            <a:r>
              <a:rPr lang="en-US" sz="1600" dirty="0">
                <a:effectLst/>
              </a:rPr>
              <a:t> plants are stationary, amphibians easier to spot in water, mammals/birds harder to detect.</a:t>
            </a:r>
          </a:p>
        </p:txBody>
      </p:sp>
    </p:spTree>
    <p:extLst>
      <p:ext uri="{BB962C8B-B14F-4D97-AF65-F5344CB8AC3E}">
        <p14:creationId xmlns:p14="http://schemas.microsoft.com/office/powerpoint/2010/main" val="287044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C86409-8DE1-F881-0521-D7977EB09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" y="102637"/>
            <a:ext cx="12061371" cy="662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71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8C1319-9C2F-66E0-F55C-48A127099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7" y="101930"/>
            <a:ext cx="11999166" cy="667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343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4B0E2B-402B-54EC-BE3E-4B6A9BD44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6" y="83976"/>
            <a:ext cx="11980506" cy="668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758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CFCE9D-DDEB-2015-A5FE-0B01A6E2F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" y="177282"/>
            <a:ext cx="11793894" cy="650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21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1F10E9-9D15-B9A8-39F9-B2E8D19F4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9" y="195943"/>
            <a:ext cx="11989836" cy="653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984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628A84-F65F-E51B-2C2E-BD24A0579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9" y="130629"/>
            <a:ext cx="12061371" cy="66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03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49CDF2-4CFB-4166-0936-FE7D3151B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8" y="121299"/>
            <a:ext cx="11840547" cy="662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92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3D0F-4A9F-34D4-634C-E199AD955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Statistical Insights of Category Differences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967044-1EE0-FE88-B8A8-CB8064DC0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Chi-square test</a:t>
                </a:r>
                <a:r>
                  <a:rPr lang="en-US" dirty="0">
                    <a:effectLst/>
                  </a:rPr>
                  <a:t>: Category vs. Conservation Status</a:t>
                </a:r>
              </a:p>
              <a:p>
                <a:pPr lvl="1"/>
                <a:r>
                  <a:rPr lang="en-US" b="1" dirty="0">
                    <a:effectLst/>
                  </a:rPr>
                  <a:t>T-stat</a:t>
                </a:r>
                <a:r>
                  <a:rPr lang="en-US" dirty="0">
                    <a:effectLst/>
                  </a:rPr>
                  <a:t>: 281.69</a:t>
                </a:r>
              </a:p>
              <a:p>
                <a:pPr lvl="1"/>
                <a:r>
                  <a:rPr lang="en-US" b="1" dirty="0" err="1">
                    <a:effectLst/>
                  </a:rPr>
                  <a:t>DoF</a:t>
                </a:r>
                <a:r>
                  <a:rPr lang="en-US" dirty="0">
                    <a:effectLst/>
                  </a:rPr>
                  <a:t>: 18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x-IV_mathan" sz="4000" b="0" i="1"/>
                      <m:t>𝑝</m:t>
                    </m:r>
                    <m:r>
                      <a:rPr lang="x-IV_mathan" sz="2800" b="0"/>
                      <m:t>≈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</a:rPr>
                  <a:t>~2.76 × 10⁻⁴⁹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effectLst/>
                  </a:rPr>
                  <a:t>Conclusion</a:t>
                </a:r>
                <a:r>
                  <a:rPr lang="en-US" dirty="0">
                    <a:effectLst/>
                  </a:rPr>
                  <a:t>: </a:t>
                </a:r>
                <a:r>
                  <a:rPr lang="en-US" dirty="0" err="1">
                    <a:effectLst/>
                  </a:rPr>
                  <a:t>Regect</a:t>
                </a:r>
                <a:r>
                  <a:rPr lang="en-US" dirty="0">
                    <a:effectLst/>
                  </a:rPr>
                  <a:t> H_0 Null Hypothesis. </a:t>
                </a: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Species category has a highly significant relationship with protection status (mammals/birds most affected)</a:t>
                </a: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967044-1EE0-FE88-B8A8-CB8064DC0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7278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B809-FF22-39FD-515F-FE80044D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Takeaways &amp; Recommendations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29E8D-84B8-6225-920D-9FC5EBD7A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This analysis examined biodiversity data from the National Park Service to understand species conservation status, endangerment patterns, and observation trends.</a:t>
            </a:r>
          </a:p>
          <a:p>
            <a:r>
              <a:rPr lang="en-US" b="1" dirty="0"/>
              <a:t>Key findings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Most species are not listed as protected (conservation_status = NaN / "Not Listed").</a:t>
            </a:r>
          </a:p>
          <a:p>
            <a:pPr lvl="1"/>
            <a:r>
              <a:rPr lang="en-US" dirty="0"/>
              <a:t>Among the protected minority, "Species of Concern" is the most common status.</a:t>
            </a:r>
          </a:p>
          <a:p>
            <a:pPr lvl="1"/>
            <a:r>
              <a:rPr lang="en-US" dirty="0"/>
              <a:t>Certain categories are significantly more likely to be protected: mammals and birds show noticeably higher proportions of protected species compared to vascular plants, nonvascular plants, reptiles, fish, and amphibians.</a:t>
            </a:r>
          </a:p>
          <a:p>
            <a:pPr lvl="1"/>
            <a:r>
              <a:rPr lang="en-US" dirty="0"/>
              <a:t>Observation volume is highly skewed: Most species have low total observations, with a long tail of commonly sighted ones. Protected species tend to have lower average observations overall, possibly due to smaller populations or monitoring challenges.</a:t>
            </a:r>
          </a:p>
          <a:p>
            <a:r>
              <a:rPr lang="en-US" dirty="0"/>
              <a:t>These results were expected in broad strokes (mammals/birds more protected due to visibility and known threats).</a:t>
            </a:r>
          </a:p>
          <a:p>
            <a:r>
              <a:rPr lang="en-US" b="1" dirty="0"/>
              <a:t>Limitations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data is fictional.</a:t>
            </a:r>
          </a:p>
          <a:p>
            <a:pPr lvl="1"/>
            <a:r>
              <a:rPr lang="en-US" dirty="0"/>
              <a:t>Conceptually, a weeks worth of observations does not seem robust enough to make a conclusion on whether a species is thriving or not.</a:t>
            </a:r>
          </a:p>
          <a:p>
            <a:r>
              <a:rPr lang="en-US" dirty="0"/>
              <a:t>Overall, the analysis supports the hypothesis that species category carries an inherent conservation risk.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230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BCD36-9DF1-798D-9904-BDA8EB0A3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The End.</a:t>
            </a:r>
          </a:p>
        </p:txBody>
      </p:sp>
    </p:spTree>
    <p:extLst>
      <p:ext uri="{BB962C8B-B14F-4D97-AF65-F5344CB8AC3E}">
        <p14:creationId xmlns:p14="http://schemas.microsoft.com/office/powerpoint/2010/main" val="459691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763</Words>
  <Application>Microsoft Office PowerPoint</Application>
  <PresentationFormat>Widescreen</PresentationFormat>
  <Paragraphs>85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Aptos Narrow</vt:lpstr>
      <vt:lpstr>Arial</vt:lpstr>
      <vt:lpstr>Cambria Math</vt:lpstr>
      <vt:lpstr>Office Theme</vt:lpstr>
      <vt:lpstr>Endangered Species Analysis in National Parks </vt:lpstr>
      <vt:lpstr>Project Overview</vt:lpstr>
      <vt:lpstr>Data Description</vt:lpstr>
      <vt:lpstr>Data Reference Table</vt:lpstr>
      <vt:lpstr>Conservation Status Overview</vt:lpstr>
      <vt:lpstr>PowerPoint Presentation</vt:lpstr>
      <vt:lpstr>Protected Species by Category</vt:lpstr>
      <vt:lpstr>Observations, Volumes &amp; Trends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Statistical Insights of Category Differences</vt:lpstr>
      <vt:lpstr>Takeaways &amp; Recommendations</vt:lpstr>
      <vt:lpstr>The End.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Spencer Wilkins</dc:creator>
  <cp:lastModifiedBy>Spencer Wilkins</cp:lastModifiedBy>
  <cp:revision>2</cp:revision>
  <dcterms:created xsi:type="dcterms:W3CDTF">2026-02-16T19:49:12Z</dcterms:created>
  <dcterms:modified xsi:type="dcterms:W3CDTF">2026-02-16T21:12:38Z</dcterms:modified>
</cp:coreProperties>
</file>